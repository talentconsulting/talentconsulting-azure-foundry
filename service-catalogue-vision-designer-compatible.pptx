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eace3d9d4f4814" /><Relationship Type="http://schemas.openxmlformats.org/officeDocument/2006/relationships/extended-properties" Target="/docProps/app.xml" Id="R2513912094a643c6" /><Relationship Type="http://schemas.openxmlformats.org/officeDocument/2006/relationships/officeDocument" Target="/ppt/presentation.xml" Id="R23e892a00e4f45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f7564d60da4c78"/>
  </p:sldMasterIdLst>
  <p:notesMasterIdLst>
    <p:notesMasterId xmlns:r="http://schemas.openxmlformats.org/officeDocument/2006/relationships" r:id="R60e1ef8b69d845e7"/>
  </p:notesMasterIdLst>
  <p:sldIdLst>
    <p:sldId xmlns:r="http://schemas.openxmlformats.org/officeDocument/2006/relationships" id="256" r:id="R982303701e6641f3"/>
    <p:sldId xmlns:r="http://schemas.openxmlformats.org/officeDocument/2006/relationships" id="257" r:id="Rd9dcd9decfbc4dfa"/>
    <p:sldId xmlns:r="http://schemas.openxmlformats.org/officeDocument/2006/relationships" id="258" r:id="R3c842457ae11483d"/>
    <p:sldId xmlns:r="http://schemas.openxmlformats.org/officeDocument/2006/relationships" id="259" r:id="R43cc2a9df61c414c"/>
    <p:sldId xmlns:r="http://schemas.openxmlformats.org/officeDocument/2006/relationships" id="260" r:id="R379f0c39c49f4e73"/>
    <p:sldId xmlns:r="http://schemas.openxmlformats.org/officeDocument/2006/relationships" id="261" r:id="R3457def6d6bf4d05"/>
    <p:sldId xmlns:r="http://schemas.openxmlformats.org/officeDocument/2006/relationships" id="262" r:id="R3387a77d6e4e4b61"/>
    <p:sldId xmlns:r="http://schemas.openxmlformats.org/officeDocument/2006/relationships" id="263" r:id="R23a7de78c56548c7"/>
    <p:sldId xmlns:r="http://schemas.openxmlformats.org/officeDocument/2006/relationships" id="264" r:id="R6dbd9d0a22b848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f86c749a5b44a8" /><Relationship Type="http://schemas.openxmlformats.org/officeDocument/2006/relationships/slideMaster" Target="/ppt/slideMasters/slideMaster1.xml" Id="R25f7564d60da4c78" /><Relationship Type="http://schemas.openxmlformats.org/officeDocument/2006/relationships/notesMaster" Target="/ppt/notesMasters/notesMaster1.xml" Id="R60e1ef8b69d845e7" /><Relationship Type="http://schemas.openxmlformats.org/officeDocument/2006/relationships/presProps" Target="/ppt/presProps.xml" Id="R7a5ed908d2014a6d" /><Relationship Type="http://schemas.openxmlformats.org/officeDocument/2006/relationships/tableStyles" Target="/ppt/tableStyles.xml" Id="Rda7a743430a04680" /><Relationship Type="http://schemas.openxmlformats.org/officeDocument/2006/relationships/slide" Target="/ppt/slides/slide1.xml" Id="R982303701e6641f3" /><Relationship Type="http://schemas.openxmlformats.org/officeDocument/2006/relationships/slide" Target="/ppt/slides/slide2.xml" Id="Rd9dcd9decfbc4dfa" /><Relationship Type="http://schemas.openxmlformats.org/officeDocument/2006/relationships/slide" Target="/ppt/slides/slide3.xml" Id="R3c842457ae11483d" /><Relationship Type="http://schemas.openxmlformats.org/officeDocument/2006/relationships/slide" Target="/ppt/slides/slide4.xml" Id="R43cc2a9df61c414c" /><Relationship Type="http://schemas.openxmlformats.org/officeDocument/2006/relationships/slide" Target="/ppt/slides/slide5.xml" Id="R379f0c39c49f4e73" /><Relationship Type="http://schemas.openxmlformats.org/officeDocument/2006/relationships/slide" Target="/ppt/slides/slide6.xml" Id="R3457def6d6bf4d05" /><Relationship Type="http://schemas.openxmlformats.org/officeDocument/2006/relationships/slide" Target="/ppt/slides/slide7.xml" Id="R3387a77d6e4e4b61" /><Relationship Type="http://schemas.openxmlformats.org/officeDocument/2006/relationships/slide" Target="/ppt/slides/slide8.xml" Id="R23a7de78c56548c7" /><Relationship Type="http://schemas.openxmlformats.org/officeDocument/2006/relationships/slide" Target="/ppt/slides/slide9.xml" Id="R6dbd9d0a22b848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7cfb0e6ded4e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ervice Catalogue">
      <a:dk1>
        <a:srgbClr val="000000"/>
      </a:dk1>
      <a:lt1>
        <a:srgbClr val="FFFFFF"/>
      </a:lt1>
      <a:dk2>
        <a:srgbClr val="272727"/>
      </a:dk2>
      <a:lt2>
        <a:srgbClr val="ECECE7"/>
      </a:lt2>
      <a:accent1>
        <a:srgbClr val="9AD93A"/>
      </a:accent1>
      <a:accent2>
        <a:srgbClr val="557C24"/>
      </a:accent2>
      <a:accent3>
        <a:srgbClr val="B8E57A"/>
      </a:accent3>
      <a:accent4>
        <a:srgbClr val="272727"/>
      </a:accent4>
      <a:accent5>
        <a:srgbClr val="767676"/>
      </a:accent5>
      <a:accent6>
        <a:srgbClr val="D9D9D9"/>
      </a:accent6>
      <a:hlink>
        <a:srgbClr val="4D720F"/>
      </a:hlink>
      <a:folHlink>
        <a:srgbClr val="6C4A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rvice Catalog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4d4bda7fe74e3e" /><Relationship Type="http://schemas.openxmlformats.org/officeDocument/2006/relationships/notesMaster" Target="/ppt/notesMasters/notesMaster1.xml" Id="R9a3f8c37b77a4c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29d10ec20041fc" /><Relationship Type="http://schemas.openxmlformats.org/officeDocument/2006/relationships/notesMaster" Target="/ppt/notesMasters/notesMaster1.xml" Id="Rb600805953364e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bf0f7186724ccb" /><Relationship Type="http://schemas.openxmlformats.org/officeDocument/2006/relationships/notesMaster" Target="/ppt/notesMasters/notesMaster1.xml" Id="R1a983532537544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1894bfcf4343cb" /><Relationship Type="http://schemas.openxmlformats.org/officeDocument/2006/relationships/notesMaster" Target="/ppt/notesMasters/notesMaster1.xml" Id="Rd1842598d1984e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846d65e6d3403e" /><Relationship Type="http://schemas.openxmlformats.org/officeDocument/2006/relationships/notesMaster" Target="/ppt/notesMasters/notesMaster1.xml" Id="R649052a6c7f141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1549dd311143fe" /><Relationship Type="http://schemas.openxmlformats.org/officeDocument/2006/relationships/notesMaster" Target="/ppt/notesMasters/notesMaster1.xml" Id="R893569b95f7d40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4bb7a6f81a47d6" /><Relationship Type="http://schemas.openxmlformats.org/officeDocument/2006/relationships/notesMaster" Target="/ppt/notesMasters/notesMaster1.xml" Id="Refd89b3c31e940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3bfbd52b844fa2" /><Relationship Type="http://schemas.openxmlformats.org/officeDocument/2006/relationships/notesMaster" Target="/ppt/notesMasters/notesMaster1.xml" Id="R7843d33aabc145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8f3f665c6f4f09" /><Relationship Type="http://schemas.openxmlformats.org/officeDocument/2006/relationships/notesMaster" Target="/ppt/notesMasters/notesMaster1.xml" Id="R4583b850b15241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one accessible, trustworthy picture of the digital estate.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service catalogue objective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everyday problem without technical detail: people spend time piecing together a service from several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service catalogue objective</a:t>
            </a:r>
          </a:p>
          <a:p xmlns:a="http://schemas.openxmlformats.org/drawingml/2006/main">
            <a:r>
              <a:t>- Generated editorial picture: scattered.png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catalogue translates engineering evidence into an accessible view for delivery, product, operations and architecture colleagues.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service catalogue objective</a:t>
            </a:r>
          </a:p>
          <a:p xmlns:a="http://schemas.openxmlformats.org/drawingml/2006/main">
            <a:r>
              <a:t>- Generated editorial picture: catalogue.png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manifest orchestrator identifies changed repositories, the workflow coordinates specialist agents, and the publisher creates the reviewable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Agent interactions and dependencies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approach is deliberately hybrid: AI handles semantic interpretation, while deterministic software controls selection, limits, validation, paths and publishing.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pipeline and agent interactions</a:t>
            </a:r>
          </a:p>
          <a:p xmlns:a="http://schemas.openxmlformats.org/drawingml/2006/main">
            <a:r>
              <a:t>- agents/hosted/openapi-source-discovery/README.md</a:t>
            </a:r>
          </a:p>
          <a:p xmlns:a="http://schemas.openxmlformats.org/drawingml/2006/main">
            <a:r>
              <a:t>- agents/hosted/openapi-spec-workflow/README.md</a:t>
            </a:r>
          </a:p>
          <a:p xmlns:a="http://schemas.openxmlformats.org/drawingml/2006/main">
            <a:r>
              <a:t>- Generated editorial picture: ai-assistant.png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reusable asset is a library of dependable processes with clear contracts. Different journeys can chain the same capabilities without rebuilding the whole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current agent pipeline</a:t>
            </a:r>
          </a:p>
          <a:p xmlns:a="http://schemas.openxmlformats.org/drawingml/2006/main">
            <a:r>
              <a:t>- User-provided roadmap</a:t>
            </a:r>
          </a:p>
          <a:p xmlns:a="http://schemas.openxmlformats.org/drawingml/2006/main">
            <a:r>
              <a:t>- Generated editorial picture: process-library.png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 invocation is the current model. Scheduling is the next step, using the same manifest comparison and review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manifest orchestrator</a:t>
            </a:r>
          </a:p>
          <a:p xmlns:a="http://schemas.openxmlformats.org/drawingml/2006/main">
            <a:r>
              <a:t>- agents/hosted/openapi-manifest-orchestrator/README.md</a:t>
            </a:r>
          </a:p>
          <a:p xmlns:a="http://schemas.openxmlformats.org/drawingml/2006/main">
            <a:r>
              <a:t>- Generated editorial picture: schedule.png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schemas, interactions and ownership as connected layers around the same service record, not separate documentation projects.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roadmap: data schemas, events, commands and ownership</a:t>
            </a:r>
          </a:p>
          <a:p xmlns:a="http://schemas.openxmlformats.org/drawingml/2006/main">
            <a:r>
              <a:t>- Generated editorial picture: catalogue-layers.png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seeking agreement on a small pilot, the catalogue's core service record and named owners for the next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service catalogue objective and roadmap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6bc5d16d842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a3f4029b447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4bd1ed39842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1b5d7e9174f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8718e150041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2906371af42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baa309cc246f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d74c8490745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a72f87310462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abae5dc134a5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bf699a176402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be10fa3fd40b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aab8cc038424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f82202dd3460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bef0d3247416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82c0bb22846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B2EF1847-D9F8-4D47-A042-B0B7B43A0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1143000"/>
            <a:ext cx="85725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Content —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3D6638C-65DA-4958-B62B-A9DE1A90050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2450" y="781050"/>
            <a:ext cx="49530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and Content — Left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Content —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1473D69-0562-4267-892D-57CB2E7ABEA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686550" y="781050"/>
            <a:ext cx="49530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and Content — Right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Content — T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3E50631-23D9-4342-9923-0D2546746E9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2450" y="400050"/>
            <a:ext cx="110871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and Content — Top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Title and Content —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836EC72-47A9-40D1-90D9-BCC21C4E11D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2450" y="5048250"/>
            <a:ext cx="110871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and Content — Bottom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Centere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E1E94CD-492C-45EF-9D7B-E04DCB7F238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524000" y="1428750"/>
            <a:ext cx="91440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Centered Content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7829E3C-616A-40DE-9CDC-5757F1CE7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400050"/>
            <a:ext cx="110871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Only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06503DC-4D7D-43BF-871E-55FDD5CA4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1905000"/>
            <a:ext cx="99060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Header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Wid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8F6E9B8-F196-4817-AFC4-4CDD31D64F1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57250" y="952500"/>
            <a:ext cx="104775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Wide Content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Narrow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1B09B67-EFDE-46D0-8001-768A2F97DBE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667000" y="952500"/>
            <a:ext cx="68580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Narrow Content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Large State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394B45D-29FC-4A9C-A2B5-6BF9EAF24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7750" y="1619250"/>
            <a:ext cx="100965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Large Statement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7660E2-9E3C-4C08-98EC-08188F78775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14500" y="1619250"/>
            <a:ext cx="8763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Quote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Picture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9BFEA8C-3037-4361-AC89-EFBE323BD6C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43000" y="5572125"/>
            <a:ext cx="990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Picture Caption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B81460F-12E3-435A-A8F6-7B902CCED1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8750" y="1571625"/>
            <a:ext cx="93345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b54c560d454cf0" /><Relationship Type="http://schemas.openxmlformats.org/officeDocument/2006/relationships/slideLayout" Target="/ppt/slideLayouts/slideLayout1.xml" Id="R90833484744847c7" /><Relationship Type="http://schemas.openxmlformats.org/officeDocument/2006/relationships/slideLayout" Target="/ppt/slideLayouts/slideLayout2.xml" Id="R81d56e99bd3d4dd6" /><Relationship Type="http://schemas.openxmlformats.org/officeDocument/2006/relationships/slideLayout" Target="/ppt/slideLayouts/slideLayout3.xml" Id="Rf5cf4c698e544022" /><Relationship Type="http://schemas.openxmlformats.org/officeDocument/2006/relationships/slideLayout" Target="/ppt/slideLayouts/slideLayout4.xml" Id="Rbbf964438e054efd" /><Relationship Type="http://schemas.openxmlformats.org/officeDocument/2006/relationships/slideLayout" Target="/ppt/slideLayouts/slideLayout5.xml" Id="R5f235edd6ad046c2" /><Relationship Type="http://schemas.openxmlformats.org/officeDocument/2006/relationships/slideLayout" Target="/ppt/slideLayouts/slideLayout6.xml" Id="R01c0f429f3c9468c" /><Relationship Type="http://schemas.openxmlformats.org/officeDocument/2006/relationships/slideLayout" Target="/ppt/slideLayouts/slideLayout7.xml" Id="R59efa3053608453e" /><Relationship Type="http://schemas.openxmlformats.org/officeDocument/2006/relationships/slideLayout" Target="/ppt/slideLayouts/slideLayout8.xml" Id="R42c17d596f80429a" /><Relationship Type="http://schemas.openxmlformats.org/officeDocument/2006/relationships/slideLayout" Target="/ppt/slideLayouts/slideLayout9.xml" Id="R7a07156b658140f0" /><Relationship Type="http://schemas.openxmlformats.org/officeDocument/2006/relationships/slideLayout" Target="/ppt/slideLayouts/slideLayout10.xml" Id="R8d2fafe9d0e44c2a" /><Relationship Type="http://schemas.openxmlformats.org/officeDocument/2006/relationships/slideLayout" Target="/ppt/slideLayouts/slideLayout11.xml" Id="Rdda664a9b3b94824" /><Relationship Type="http://schemas.openxmlformats.org/officeDocument/2006/relationships/slideLayout" Target="/ppt/slideLayouts/slideLayout12.xml" Id="Rde39629bb3994699" /><Relationship Type="http://schemas.openxmlformats.org/officeDocument/2006/relationships/slideLayout" Target="/ppt/slideLayouts/slideLayout13.xml" Id="R26cc97e4008d433a" /><Relationship Type="http://schemas.openxmlformats.org/officeDocument/2006/relationships/slideLayout" Target="/ppt/slideLayouts/slideLayout14.xml" Id="Ra96da91ec20a433e" /><Relationship Type="http://schemas.openxmlformats.org/officeDocument/2006/relationships/slideLayout" Target="/ppt/slideLayouts/slideLayout15.xml" Id="R47bc5a88561a4081" /><Relationship Type="http://schemas.openxmlformats.org/officeDocument/2006/relationships/slideLayout" Target="/ppt/slideLayouts/slideLayout16.xml" Id="R9fc6323cdc3b44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833484744847c7"/>
    <p:sldLayoutId xmlns:r="http://schemas.openxmlformats.org/officeDocument/2006/relationships" id="2147483650" r:id="R81d56e99bd3d4dd6"/>
    <p:sldLayoutId xmlns:r="http://schemas.openxmlformats.org/officeDocument/2006/relationships" id="2147483651" r:id="Rf5cf4c698e544022"/>
    <p:sldLayoutId xmlns:r="http://schemas.openxmlformats.org/officeDocument/2006/relationships" id="2147483652" r:id="Rbbf964438e054efd"/>
    <p:sldLayoutId xmlns:r="http://schemas.openxmlformats.org/officeDocument/2006/relationships" id="2147483653" r:id="R5f235edd6ad046c2"/>
    <p:sldLayoutId xmlns:r="http://schemas.openxmlformats.org/officeDocument/2006/relationships" id="2147483654" r:id="R01c0f429f3c9468c"/>
    <p:sldLayoutId xmlns:r="http://schemas.openxmlformats.org/officeDocument/2006/relationships" id="2147483655" r:id="R59efa3053608453e"/>
    <p:sldLayoutId xmlns:r="http://schemas.openxmlformats.org/officeDocument/2006/relationships" id="2147483656" r:id="R42c17d596f80429a"/>
    <p:sldLayoutId xmlns:r="http://schemas.openxmlformats.org/officeDocument/2006/relationships" id="2147483657" r:id="R7a07156b658140f0"/>
    <p:sldLayoutId xmlns:r="http://schemas.openxmlformats.org/officeDocument/2006/relationships" id="2147483658" r:id="R8d2fafe9d0e44c2a"/>
    <p:sldLayoutId xmlns:r="http://schemas.openxmlformats.org/officeDocument/2006/relationships" id="2147483659" r:id="Rdda664a9b3b94824"/>
    <p:sldLayoutId xmlns:r="http://schemas.openxmlformats.org/officeDocument/2006/relationships" id="2147483660" r:id="Rde39629bb3994699"/>
    <p:sldLayoutId xmlns:r="http://schemas.openxmlformats.org/officeDocument/2006/relationships" id="2147483661" r:id="R26cc97e4008d433a"/>
    <p:sldLayoutId xmlns:r="http://schemas.openxmlformats.org/officeDocument/2006/relationships" id="2147483662" r:id="Ra96da91ec20a433e"/>
    <p:sldLayoutId xmlns:r="http://schemas.openxmlformats.org/officeDocument/2006/relationships" id="2147483663" r:id="R47bc5a88561a4081"/>
    <p:sldLayoutId xmlns:r="http://schemas.openxmlformats.org/officeDocument/2006/relationships" id="2147483664" r:id="R9fc6323cdc3b44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ervice Catalogue">
      <a:dk1>
        <a:srgbClr val="000000"/>
      </a:dk1>
      <a:lt1>
        <a:srgbClr val="FFFFFF"/>
      </a:lt1>
      <a:dk2>
        <a:srgbClr val="272727"/>
      </a:dk2>
      <a:lt2>
        <a:srgbClr val="ECECE7"/>
      </a:lt2>
      <a:accent1>
        <a:srgbClr val="9AD93A"/>
      </a:accent1>
      <a:accent2>
        <a:srgbClr val="557C24"/>
      </a:accent2>
      <a:accent3>
        <a:srgbClr val="B8E57A"/>
      </a:accent3>
      <a:accent4>
        <a:srgbClr val="272727"/>
      </a:accent4>
      <a:accent5>
        <a:srgbClr val="767676"/>
      </a:accent5>
      <a:accent6>
        <a:srgbClr val="D9D9D9"/>
      </a:accent6>
      <a:hlink>
        <a:srgbClr val="4D720F"/>
      </a:hlink>
      <a:folHlink>
        <a:srgbClr val="6C4A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rvice Catalog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a16cb24b5447d8" /><Relationship Type="http://schemas.openxmlformats.org/officeDocument/2006/relationships/notesSlide" Target="/ppt/notesSlides/notesSlide1.xml" Id="Re64101c325cc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4d74ded8cd4d4a" /><Relationship Type="http://schemas.openxmlformats.org/officeDocument/2006/relationships/image" Target="/ppt/media/image.png" Id="R29fdd4cb57a84387" /><Relationship Type="http://schemas.openxmlformats.org/officeDocument/2006/relationships/notesSlide" Target="/ppt/notesSlides/notesSlide2.xml" Id="R8f98f62fdd0c43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432ec452e9438e" /><Relationship Type="http://schemas.openxmlformats.org/officeDocument/2006/relationships/image" Target="/ppt/media/image2.png" Id="Rae3540c5ae714c99" /><Relationship Type="http://schemas.openxmlformats.org/officeDocument/2006/relationships/notesSlide" Target="/ppt/notesSlides/notesSlide3.xml" Id="Rbe7a0e3f0b5945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a6ff604b82e451f" /><Relationship Type="http://schemas.openxmlformats.org/officeDocument/2006/relationships/image" Target="/ppt/media/image3.png" Id="Rd12ecc28fc0840ee" /><Relationship Type="http://schemas.openxmlformats.org/officeDocument/2006/relationships/notesSlide" Target="/ppt/notesSlides/notesSlide4.xml" Id="Rc24ed6229d9746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d72bf9f1684528" /><Relationship Type="http://schemas.openxmlformats.org/officeDocument/2006/relationships/image" Target="/ppt/media/image4.png" Id="R7fdbb88c2987416b" /><Relationship Type="http://schemas.openxmlformats.org/officeDocument/2006/relationships/notesSlide" Target="/ppt/notesSlides/notesSlide5.xml" Id="R7fb5c1c5fa814e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94a51245614c63" /><Relationship Type="http://schemas.openxmlformats.org/officeDocument/2006/relationships/image" Target="/ppt/media/image5.png" Id="Rcc8730488f094f05" /><Relationship Type="http://schemas.openxmlformats.org/officeDocument/2006/relationships/notesSlide" Target="/ppt/notesSlides/notesSlide6.xml" Id="Rc0be17a686b34c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5d3d7739894140" /><Relationship Type="http://schemas.openxmlformats.org/officeDocument/2006/relationships/image" Target="/ppt/media/image6.png" Id="Rb2a6dc83b8a24f7d" /><Relationship Type="http://schemas.openxmlformats.org/officeDocument/2006/relationships/notesSlide" Target="/ppt/notesSlides/notesSlide7.xml" Id="Ra5b40e4262914b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c6793d6ac74a97" /><Relationship Type="http://schemas.openxmlformats.org/officeDocument/2006/relationships/image" Target="/ppt/media/image7.png" Id="R951365d3a8b34d8e" /><Relationship Type="http://schemas.openxmlformats.org/officeDocument/2006/relationships/notesSlide" Target="/ppt/notesSlides/notesSlide8.xml" Id="Rf7625d37b06342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ea2be768ac64df9" /><Relationship Type="http://schemas.openxmlformats.org/officeDocument/2006/relationships/notesSlide" Target="/ppt/notesSlides/notesSlide9.xml" Id="R73ef9353463c46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B2EF1847-D9F8-4D47-A042-B0B7B43A0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8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 clear picture of
our digital estate</a:t>
            </a:r>
          </a:p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71717"/>
                </a:solidFill>
                <a:latin typeface="Aptos"/>
                <a:ea typeface="Aptos"/>
                <a:cs typeface="Aptos"/>
              </a:rPr>
              <a:t>Vision, agents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984611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3D6638C-65DA-4958-B62B-A9DE1A90050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2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Service knowledge is scattered</a:t>
            </a:r>
          </a:p>
          <a:p xmlns:a="http://schemas.openxmlformats.org/drawingml/2006/main">
            <a:pPr algn="l">
              <a:spcAft>
                <a:spcPts val="14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Finding the answer takes too long</a:t>
            </a:r>
          </a:p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71717"/>
                </a:solidFill>
                <a:latin typeface="Aptos"/>
                <a:ea typeface="Aptos"/>
                <a:cs typeface="Aptos"/>
              </a:rPr>
              <a:t>People search repositories, documents and conversations. Information can be incomplete, inconsistent or out of date.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dd4cb57a84387"/>
          <a:stretch xmlns:a="http://schemas.openxmlformats.org/drawingml/2006/main"/>
        </p:blipFill>
        <p:spPr>
          <a:xfrm xmlns:a="http://schemas.openxmlformats.org/drawingml/2006/main">
            <a:off x="6191250" y="1457325"/>
            <a:ext cx="5448300" cy="408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97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3D6638C-65DA-4958-B62B-A9DE1A90050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2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The catalogue creates one trusted view</a:t>
            </a:r>
          </a:p>
          <a:p xmlns:a="http://schemas.openxmlformats.org/drawingml/2006/main">
            <a:pPr algn="l">
              <a:spcAft>
                <a:spcPts val="14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 shared map for everyone</a:t>
            </a:r>
          </a:p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71717"/>
                </a:solidFill>
                <a:latin typeface="Aptos"/>
                <a:ea typeface="Aptos"/>
                <a:cs typeface="Aptos"/>
              </a:rPr>
              <a:t>People can understand services, interfaces, data and ownership without reading source code. Teams gain a dependable starting point for discovery and change.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540c5ae714c99"/>
          <a:stretch xmlns:a="http://schemas.openxmlformats.org/drawingml/2006/main"/>
        </p:blipFill>
        <p:spPr>
          <a:xfrm xmlns:a="http://schemas.openxmlformats.org/drawingml/2006/main">
            <a:off x="6191250" y="1457325"/>
            <a:ext cx="5448300" cy="408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02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3E50631-23D9-4342-9923-0D2546746E9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2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Agents work together as one publishing flow</a:t>
            </a:r>
          </a:p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71717"/>
                </a:solidFill>
                <a:latin typeface="Aptos"/>
                <a:ea typeface="Aptos"/>
                <a:cs typeface="Aptos"/>
              </a:rPr>
              <a:t>Each agent has one clear responsibility, with review before information enters the catalogue.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ecc28fc0840ee"/>
          <a:stretch xmlns:a="http://schemas.openxmlformats.org/drawingml/2006/main"/>
        </p:blipFill>
        <p:spPr>
          <a:xfrm xmlns:a="http://schemas.openxmlformats.org/drawingml/2006/main">
            <a:off x="2343743" y="1952625"/>
            <a:ext cx="7504515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4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3D6638C-65DA-4958-B62B-A9DE1A90050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2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AI turns source code into useful service knowledge</a:t>
            </a:r>
          </a:p>
          <a:p xmlns:a="http://schemas.openxmlformats.org/drawingml/2006/main">
            <a:pPr algn="l">
              <a:spcAft>
                <a:spcPts val="14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AI handles interpretation</a:t>
            </a:r>
          </a:p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71717"/>
                </a:solidFill>
                <a:latin typeface="Aptos"/>
                <a:ea typeface="Aptos"/>
                <a:cs typeface="Aptos"/>
              </a:rPr>
              <a:t>It reads API and DTO code, follows related declarations and creates clear descriptions. Rules still control scope, validation, file locations and review.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bb88c2987416b"/>
          <a:stretch xmlns:a="http://schemas.openxmlformats.org/drawingml/2006/main"/>
        </p:blipFill>
        <p:spPr>
          <a:xfrm xmlns:a="http://schemas.openxmlformats.org/drawingml/2006/main">
            <a:off x="6191250" y="1457325"/>
            <a:ext cx="5448300" cy="408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81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3D6638C-65DA-4958-B62B-A9DE1A90050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2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Reusable processes let us build new catalogue journeys</a:t>
            </a:r>
          </a:p>
          <a:p xmlns:a="http://schemas.openxmlformats.org/drawingml/2006/main">
            <a:pPr algn="l">
              <a:spcAft>
                <a:spcPts val="14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Small capabilities, joined together</a:t>
            </a:r>
          </a:p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71717"/>
                </a:solidFill>
                <a:latin typeface="Aptos"/>
                <a:ea typeface="Aptos"/>
                <a:cs typeface="Aptos"/>
              </a:rPr>
              <a:t>Discover. Interpret. Validate. Publish. Each process has a clear input and output, so we can reuse and chain it for APIs, data, events or ownership.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730488f094f05"/>
          <a:stretch xmlns:a="http://schemas.openxmlformats.org/drawingml/2006/main"/>
        </p:blipFill>
        <p:spPr>
          <a:xfrm xmlns:a="http://schemas.openxmlformats.org/drawingml/2006/main">
            <a:off x="6191250" y="1457325"/>
            <a:ext cx="5448300" cy="408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598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3D6638C-65DA-4958-B62B-A9DE1A90050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2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The same workflow can run when we need it</a:t>
            </a:r>
          </a:p>
          <a:p xmlns:a="http://schemas.openxmlformats.org/drawingml/2006/main">
            <a:pPr algn="l">
              <a:spcAft>
                <a:spcPts val="14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Manual today. Scheduled next.</a:t>
            </a:r>
          </a:p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71717"/>
                </a:solidFill>
                <a:latin typeface="Aptos"/>
                <a:ea typeface="Aptos"/>
                <a:cs typeface="Aptos"/>
              </a:rPr>
              <a:t>We can run it on demand now. A routine can later check the manifest at an agreed cadence and process only repositories that changed.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6dc83b8a24f7d"/>
          <a:stretch xmlns:a="http://schemas.openxmlformats.org/drawingml/2006/main"/>
        </p:blipFill>
        <p:spPr>
          <a:xfrm xmlns:a="http://schemas.openxmlformats.org/drawingml/2006/main">
            <a:off x="6191250" y="1457325"/>
            <a:ext cx="5448300" cy="408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454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3D6638C-65DA-4958-B62B-A9DE1A90050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2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The catalogue becomes a complete service picture</a:t>
            </a:r>
          </a:p>
          <a:p xmlns:a="http://schemas.openxmlformats.org/drawingml/2006/main">
            <a:pPr algn="l">
              <a:spcAft>
                <a:spcPts val="14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APIs are the first layer</a:t>
            </a:r>
          </a:p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71717"/>
                </a:solidFill>
                <a:latin typeface="Aptos"/>
                <a:ea typeface="Aptos"/>
                <a:cs typeface="Aptos"/>
              </a:rPr>
              <a:t>Next we add shared data schemas, events and commands, and accountable ownership—using the same source-led approach.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365d3a8b34d8e"/>
          <a:stretch xmlns:a="http://schemas.openxmlformats.org/drawingml/2006/main"/>
        </p:blipFill>
        <p:spPr>
          <a:xfrm xmlns:a="http://schemas.openxmlformats.org/drawingml/2006/main">
            <a:off x="6191250" y="1457325"/>
            <a:ext cx="5448300" cy="408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5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B81460F-12E3-435A-A8F6-7B902CCED1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8"/>
              </a:spcAft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One place to understand
how services connect</a:t>
            </a:r>
          </a:p>
          <a:p xmlns:a="http://schemas.openxmlformats.org/drawingml/2006/main">
            <a:pPr algn="ctr">
              <a:defRPr sz="180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71717"/>
                </a:solidFill>
                <a:latin typeface="Aptos"/>
                <a:ea typeface="Aptos"/>
                <a:cs typeface="Aptos"/>
              </a:rPr>
              <a:t>Start with APIs. Add data, events, commands and ownership.</a:t>
            </a:r>
          </a:p>
        </p:txBody>
      </p:sp>
    </p:spTree>
    <p:extLst>
      <p:ext uri="{BB962C8B-B14F-4D97-AF65-F5344CB8AC3E}">
        <p14:creationId xmlns:p14="http://schemas.microsoft.com/office/powerpoint/2010/main" val="1477092881"/>
      </p:ext>
    </p:extLst>
  </p:cSld>
</p:sld>
</file>

<file path=ppt/theme/theme1.xml><?xml version="1.0" encoding="utf-8"?>
<a:theme xmlns:a="http://schemas.openxmlformats.org/drawingml/2006/main" name="ChatGPT">
  <a:themeElements>
    <a:clrScheme name="Service Catalogue">
      <a:dk1>
        <a:srgbClr val="000000"/>
      </a:dk1>
      <a:lt1>
        <a:srgbClr val="FFFFFF"/>
      </a:lt1>
      <a:dk2>
        <a:srgbClr val="272727"/>
      </a:dk2>
      <a:lt2>
        <a:srgbClr val="ECECE7"/>
      </a:lt2>
      <a:accent1>
        <a:srgbClr val="9AD93A"/>
      </a:accent1>
      <a:accent2>
        <a:srgbClr val="557C24"/>
      </a:accent2>
      <a:accent3>
        <a:srgbClr val="B8E57A"/>
      </a:accent3>
      <a:accent4>
        <a:srgbClr val="272727"/>
      </a:accent4>
      <a:accent5>
        <a:srgbClr val="767676"/>
      </a:accent5>
      <a:accent6>
        <a:srgbClr val="D9D9D9"/>
      </a:accent6>
      <a:hlink>
        <a:srgbClr val="4D720F"/>
      </a:hlink>
      <a:folHlink>
        <a:srgbClr val="6C4A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rvice Catalog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2026-08-05T09:14:28.9400000Z</dcterms:created>
  <dcterms:modified xsi:type="dcterms:W3CDTF">2026-08-05T09:14:28.9400000Z</dcterms:modified>
</coreProperties>
</file>